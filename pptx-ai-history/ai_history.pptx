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人工智能发展史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从图灵的思想到深度学习的浪潮</a:t>
            </a:r>
          </a:p>
          <a:p>
            <a:pPr lvl="1"/>
            <a:r>
              <a:rPr sz="1800"/>
              <a:t>AI（Artificial Intelligence）旨在让机器模拟人类的智能行为</a:t>
            </a:r>
          </a:p>
          <a:p>
            <a:pPr lvl="1"/>
            <a:r>
              <a:rPr sz="1800"/>
              <a:t>发展历经思想萌芽、黄金时代、两次寒冬与再度崛起</a:t>
            </a:r>
          </a:p>
          <a:p>
            <a:pPr lvl="1"/>
            <a:r>
              <a:rPr sz="1800"/>
              <a:t>本讲按时间线梳理关键里程碑、人物与技术突破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思想的萌芽与奠基（1943–1955）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逻辑与计算为智能机器提供理论基础</a:t>
            </a:r>
          </a:p>
          <a:p>
            <a:pPr lvl="1"/>
            <a:r>
              <a:rPr sz="1800"/>
              <a:t>1943 年：McCulloch 与 Pitts 提出神经网络最早数学模型</a:t>
            </a:r>
          </a:p>
          <a:p>
            <a:pPr lvl="1"/>
            <a:r>
              <a:rPr sz="1800"/>
              <a:t>1950 年：图灵发表《计算机器与智能》，提出“图灵测试”</a:t>
            </a:r>
          </a:p>
          <a:p>
            <a:pPr lvl="1"/>
            <a:r>
              <a:rPr sz="1800"/>
              <a:t>同时期人工智能正式诞生前，逻辑与符号处理思想逐步成型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黄金时代与两次寒冬（1956–1993）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从达特茅斯会议到符号主义的起伏</a:t>
            </a:r>
          </a:p>
          <a:p>
            <a:pPr lvl="1"/>
            <a:r>
              <a:rPr sz="1800"/>
              <a:t>1956 年：达特茅斯会议正式提出“人工智能”，标志学科诞生</a:t>
            </a:r>
          </a:p>
          <a:p>
            <a:pPr lvl="1"/>
            <a:r>
              <a:rPr sz="1800"/>
              <a:t>符号主义/专家系统取得早期成功（如 MYCIN 医疗系统）</a:t>
            </a:r>
          </a:p>
          <a:p>
            <a:pPr lvl="1"/>
            <a:r>
              <a:rPr sz="1800"/>
              <a:t>因算力与数据不足，1974–1980、1987–1993 两次进入“AI寒冬”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机器学习的复兴与深度学习崛起（1990s–2010s）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统计方法回归，算力与数据推动新一轮突破</a:t>
            </a:r>
          </a:p>
          <a:p>
            <a:pPr lvl="1"/>
            <a:r>
              <a:rPr sz="1800"/>
              <a:t>支持向量机、随机森林等统计学习模型兴起</a:t>
            </a:r>
          </a:p>
          <a:p>
            <a:pPr lvl="1"/>
            <a:r>
              <a:rPr sz="1800"/>
              <a:t>2012 年：AlexNet 在 ImageNet 大胜，引爆深度学习热潮</a:t>
            </a:r>
          </a:p>
          <a:p>
            <a:pPr lvl="1"/>
            <a:r>
              <a:rPr sz="1800"/>
              <a:t>GPU、大数据与开源框架（TensorFlow 等）加速技术落地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当代 AI 浪潮与未来展望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大模型、生成式 AI 与通用人工智能（AGI）</a:t>
            </a:r>
          </a:p>
          <a:p>
            <a:pPr lvl="1"/>
            <a:r>
              <a:rPr sz="1800"/>
              <a:t>Transformer 与大语言模型让 AI 进入“生成式智能”时代</a:t>
            </a:r>
          </a:p>
          <a:p>
            <a:pPr lvl="1"/>
            <a:r>
              <a:rPr sz="1800"/>
              <a:t>AlphaGo、ChatGPT 等标志性成果进入大众视野</a:t>
            </a:r>
          </a:p>
          <a:p>
            <a:pPr lvl="1"/>
            <a:r>
              <a:rPr sz="1800"/>
              <a:t>未来方向：AGI、多模态、具身智能，以及安全与伦理治理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